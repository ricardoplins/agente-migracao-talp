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3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9" roundtripDataSignature="AMtx7milwUSd1Ik7VvZj5v8g5reUXKLNC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4" name="Joison Oliveira Pereira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29561B-F654-4C84-A280-7759CF8C7EFC}">
  <a:tblStyle styleId="{7229561B-F654-4C84-A280-7759CF8C7EF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customschemas.google.com/relationships/presentationmetadata" Target="metadata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6-25T23:25:23.117">
    <p:pos x="196" y="725"/>
    <p:text>Falar para o que as bibliotecas servem e porque essa migração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-uHMUVM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6-25T23:34:27.047">
    <p:pos x="6000" y="0"/>
    <p:text>Lembrar de colocar o modelo utilizado, temperatura e outras configurações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-uHMUVE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6-25T23:41:04.396">
    <p:pos x="6000" y="0"/>
    <p:text>Colocar entradas e saídas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-uHMUVQ"/>
      </p:ext>
    </p:extLst>
  </p:cm>
  <p:cm authorId="0" idx="4" dt="2026-06-25T23:41:33.453">
    <p:pos x="6000" y="100"/>
    <p:text>Pensar em uma forma de representar meus prompts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-uHMUVI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4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5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4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4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21212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2.xml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comments" Target="../comments/comment3.xml"/><Relationship Id="rId4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pt-BR"/>
              <a:t>MigAgent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pt-BR" sz="3600"/>
              <a:t>Urllib → Requests</a:t>
            </a:r>
            <a:endParaRPr sz="3600"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1752675" y="2797175"/>
            <a:ext cx="2748300" cy="16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Jóison Oliveira Maria Fernanda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    Ricardo Lins</a:t>
            </a:r>
            <a:endParaRPr/>
          </a:p>
        </p:txBody>
      </p:sp>
      <p:sp>
        <p:nvSpPr>
          <p:cNvPr id="56" name="Google Shape;56;p1"/>
          <p:cNvSpPr txBox="1"/>
          <p:nvPr>
            <p:ph idx="1" type="subTitle"/>
          </p:nvPr>
        </p:nvSpPr>
        <p:spPr>
          <a:xfrm>
            <a:off x="4643033" y="2797175"/>
            <a:ext cx="2748300" cy="16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jop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mflos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rpl3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Contexto</a:t>
            </a:r>
            <a:endParaRPr/>
          </a:p>
        </p:txBody>
      </p:sp>
      <p:sp>
        <p:nvSpPr>
          <p:cNvPr id="62" name="Google Shape;62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Migração Python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Urllib para Requests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Artigo do ICSE - MiG.4: A Curated Dataset of Library Migrations in Java and Python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Exemplos de códigos</a:t>
            </a:r>
            <a:endParaRPr/>
          </a:p>
        </p:txBody>
      </p:sp>
      <p:sp>
        <p:nvSpPr>
          <p:cNvPr id="68" name="Google Shape;6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Exemplos de código urllib e requests para fundamentar o motivo da migração</a:t>
            </a:r>
            <a:endParaRPr/>
          </a:p>
        </p:txBody>
      </p:sp>
      <p:pic>
        <p:nvPicPr>
          <p:cNvPr id="69" name="Google Shape;69;p4" title="Captura de Tela 2026-06-22 às 22.16.3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114813"/>
            <a:ext cx="4219186" cy="149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4" title="Captura de Tela 2026-06-22 às 22.16.5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385683"/>
            <a:ext cx="4219175" cy="949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Problema</a:t>
            </a:r>
            <a:endParaRPr/>
          </a:p>
        </p:txBody>
      </p:sp>
      <p:sp>
        <p:nvSpPr>
          <p:cNvPr id="76" name="Google Shape;76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/>
              <a:t>A migração manual exige: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Conhecimento do código pré e pós (urllib e requests)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Demandar esforço e tempo para ser realizada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Solução</a:t>
            </a:r>
            <a:endParaRPr/>
          </a:p>
        </p:txBody>
      </p:sp>
      <p:pic>
        <p:nvPicPr>
          <p:cNvPr id="82" name="Google Shape;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663" y="1291125"/>
            <a:ext cx="8070674" cy="256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Agente Migrador</a:t>
            </a:r>
            <a:endParaRPr/>
          </a:p>
        </p:txBody>
      </p:sp>
      <p:pic>
        <p:nvPicPr>
          <p:cNvPr id="88" name="Google Shape;8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70125"/>
            <a:ext cx="8839204" cy="320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39286"/>
              <a:buFont typeface="Arial"/>
              <a:buNone/>
            </a:pPr>
            <a:r>
              <a:rPr lang="pt-BR"/>
              <a:t>Agente Migrador</a:t>
            </a:r>
            <a:endParaRPr/>
          </a:p>
        </p:txBody>
      </p:sp>
      <p:sp>
        <p:nvSpPr>
          <p:cNvPr id="94" name="Google Shape;94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Prompt Regras de Migração</a:t>
            </a:r>
            <a:endParaRPr/>
          </a:p>
        </p:txBody>
      </p:sp>
      <p:pic>
        <p:nvPicPr>
          <p:cNvPr id="95" name="Google Shape;95;p8" title="Captura de Tela 2026-06-17 às 23.03.2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617899"/>
            <a:ext cx="8520601" cy="248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39286"/>
              <a:buFont typeface="Arial"/>
              <a:buNone/>
            </a:pPr>
            <a:r>
              <a:rPr lang="pt-BR"/>
              <a:t>Agente Migrador </a:t>
            </a:r>
            <a:endParaRPr/>
          </a:p>
        </p:txBody>
      </p:sp>
      <p:pic>
        <p:nvPicPr>
          <p:cNvPr id="101" name="Google Shape;10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38" y="1320175"/>
            <a:ext cx="8977925" cy="250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Solução</a:t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Prompts de refinamento após os feedbacks (testes e revisão)</a:t>
            </a:r>
            <a:endParaRPr/>
          </a:p>
        </p:txBody>
      </p:sp>
      <p:pic>
        <p:nvPicPr>
          <p:cNvPr id="108" name="Google Shape;108;p10" title="Captura de Tela 2026-06-17 às 23.02.2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413" y="1967325"/>
            <a:ext cx="7169175" cy="260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Avaliação Agente Migração</a:t>
            </a:r>
            <a:endParaRPr/>
          </a:p>
        </p:txBody>
      </p:sp>
      <p:sp>
        <p:nvSpPr>
          <p:cNvPr id="114" name="Google Shape;114;p11"/>
          <p:cNvSpPr txBox="1"/>
          <p:nvPr>
            <p:ph idx="1" type="body"/>
          </p:nvPr>
        </p:nvSpPr>
        <p:spPr>
          <a:xfrm>
            <a:off x="311700" y="1017725"/>
            <a:ext cx="8520600" cy="39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Modelo: llama-3.3-70b-versatile, temperature: 0.0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b="1"/>
          </a:p>
        </p:txBody>
      </p:sp>
      <p:pic>
        <p:nvPicPr>
          <p:cNvPr id="115" name="Google Shape;115;p11" title="tabela_metricas_atualizada-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2100" y="1438500"/>
            <a:ext cx="6339799" cy="356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Agente de Testes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6629"/>
              <a:buNone/>
            </a:pPr>
            <a:r>
              <a:rPr lang="pt-BR" sz="1667"/>
              <a:t>para Migrações Python urllib → requests</a:t>
            </a:r>
            <a:endParaRPr sz="1667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Agente de Testes</a:t>
            </a:r>
            <a:endParaRPr/>
          </a:p>
        </p:txBody>
      </p:sp>
      <p:pic>
        <p:nvPicPr>
          <p:cNvPr id="126" name="Google Shape;12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3975" y="787300"/>
            <a:ext cx="4124826" cy="405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Agente de Testes</a:t>
            </a:r>
            <a:endParaRPr/>
          </a:p>
        </p:txBody>
      </p:sp>
      <p:pic>
        <p:nvPicPr>
          <p:cNvPr id="132" name="Google Shape;132;p16"/>
          <p:cNvPicPr preferRelativeResize="0"/>
          <p:nvPr/>
        </p:nvPicPr>
        <p:blipFill rotWithShape="1">
          <a:blip r:embed="rId3">
            <a:alphaModFix/>
          </a:blip>
          <a:srcRect b="0" l="1161" r="1249" t="0"/>
          <a:stretch/>
        </p:blipFill>
        <p:spPr>
          <a:xfrm>
            <a:off x="0" y="2016025"/>
            <a:ext cx="9143998" cy="99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Prompt</a:t>
            </a:r>
            <a:endParaRPr/>
          </a:p>
        </p:txBody>
      </p:sp>
      <p:sp>
        <p:nvSpPr>
          <p:cNvPr id="138" name="Google Shape;13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2348825" y="261000"/>
            <a:ext cx="4906500" cy="48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PROMPT_ANALYZER = """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are an analyzer. Receive two Python modules: ORIGINAL (urllib) and MIGRATED (requests).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Produce a concise JSON test plan with: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original_functions: list of {name, params, endpoints, returns, error_handling}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migrated_functions: same structure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equivalence_pairs: list of {original, migrated, behavioral_diff}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test_scenarios: max 12 items, each with {id, category, function, description, mock_setup, expected_original, expected_migrated, priority}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coverage_notes: one sentence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 ONLY valid JSON, no markdown, no explanation.”””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 txBox="1"/>
          <p:nvPr/>
        </p:nvSpPr>
        <p:spPr>
          <a:xfrm>
            <a:off x="5384900" y="1211375"/>
            <a:ext cx="3466500" cy="8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pt-BR" sz="1650" u="none" cap="none" strike="noStrike">
                <a:solidFill>
                  <a:srgbClr val="A5D6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llama-3.3-70b-versatile</a:t>
            </a:r>
            <a:endParaRPr b="0" i="0" sz="1650" u="none" cap="none" strike="noStrike">
              <a:solidFill>
                <a:srgbClr val="A5D6F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125" y="1755100"/>
            <a:ext cx="2248633" cy="476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125" y="2530197"/>
            <a:ext cx="2061246" cy="442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2125" y="3096447"/>
            <a:ext cx="5400125" cy="511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1979425"/>
            <a:ext cx="8839201" cy="23747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19"/>
          <p:cNvGrpSpPr/>
          <p:nvPr/>
        </p:nvGrpSpPr>
        <p:grpSpPr>
          <a:xfrm>
            <a:off x="1313300" y="790654"/>
            <a:ext cx="2033350" cy="469500"/>
            <a:chOff x="5461025" y="503579"/>
            <a:chExt cx="2033350" cy="469500"/>
          </a:xfrm>
        </p:grpSpPr>
        <p:sp>
          <p:nvSpPr>
            <p:cNvPr id="154" name="Google Shape;154;p19"/>
            <p:cNvSpPr/>
            <p:nvPr/>
          </p:nvSpPr>
          <p:spPr>
            <a:xfrm>
              <a:off x="5461025" y="629575"/>
              <a:ext cx="358800" cy="217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9"/>
            <p:cNvSpPr/>
            <p:nvPr/>
          </p:nvSpPr>
          <p:spPr>
            <a:xfrm>
              <a:off x="6069975" y="558925"/>
              <a:ext cx="1424400" cy="3588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9"/>
            <p:cNvSpPr txBox="1"/>
            <p:nvPr/>
          </p:nvSpPr>
          <p:spPr>
            <a:xfrm>
              <a:off x="6232875" y="503579"/>
              <a:ext cx="1261500" cy="4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Original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" name="Google Shape;157;p19"/>
          <p:cNvGrpSpPr/>
          <p:nvPr/>
        </p:nvGrpSpPr>
        <p:grpSpPr>
          <a:xfrm>
            <a:off x="4680675" y="790654"/>
            <a:ext cx="1962825" cy="469500"/>
            <a:chOff x="4394375" y="682054"/>
            <a:chExt cx="1962825" cy="469500"/>
          </a:xfrm>
        </p:grpSpPr>
        <p:sp>
          <p:nvSpPr>
            <p:cNvPr id="158" name="Google Shape;158;p19"/>
            <p:cNvSpPr/>
            <p:nvPr/>
          </p:nvSpPr>
          <p:spPr>
            <a:xfrm rot="10800000">
              <a:off x="5998400" y="808050"/>
              <a:ext cx="358800" cy="217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9"/>
            <p:cNvSpPr/>
            <p:nvPr/>
          </p:nvSpPr>
          <p:spPr>
            <a:xfrm>
              <a:off x="4394375" y="737400"/>
              <a:ext cx="1424400" cy="3588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9"/>
            <p:cNvSpPr txBox="1"/>
            <p:nvPr/>
          </p:nvSpPr>
          <p:spPr>
            <a:xfrm>
              <a:off x="4572000" y="682054"/>
              <a:ext cx="1261500" cy="4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Migrado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Avaliação TestAgent</a:t>
            </a:r>
            <a:endParaRPr/>
          </a:p>
        </p:txBody>
      </p:sp>
      <p:sp>
        <p:nvSpPr>
          <p:cNvPr id="166" name="Google Shape;166;p20"/>
          <p:cNvSpPr txBox="1"/>
          <p:nvPr>
            <p:ph idx="1" type="body"/>
          </p:nvPr>
        </p:nvSpPr>
        <p:spPr>
          <a:xfrm>
            <a:off x="311700" y="17723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Geração de código Urlib e Requests com bug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Claude Sonnet 4.6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 txBox="1"/>
          <p:nvPr>
            <p:ph type="title"/>
          </p:nvPr>
        </p:nvSpPr>
        <p:spPr>
          <a:xfrm>
            <a:off x="311700" y="445025"/>
            <a:ext cx="342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Avaliação TestAgent</a:t>
            </a:r>
            <a:endParaRPr/>
          </a:p>
        </p:txBody>
      </p:sp>
      <p:graphicFrame>
        <p:nvGraphicFramePr>
          <p:cNvPr id="172" name="Google Shape;172;p21"/>
          <p:cNvGraphicFramePr/>
          <p:nvPr/>
        </p:nvGraphicFramePr>
        <p:xfrm>
          <a:off x="4475750" y="19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{7229561B-F654-4C84-A280-7759CF8C7EFC}</a:tableStyleId>
              </a:tblPr>
              <a:tblGrid>
                <a:gridCol w="1830725"/>
                <a:gridCol w="1830725"/>
              </a:tblGrid>
              <a:tr h="324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chemeClr val="dk1"/>
                          </a:solidFill>
                        </a:rPr>
                        <a:t>Tests Cases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chemeClr val="dk1"/>
                          </a:solidFill>
                        </a:rPr>
                        <a:t>Acerto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24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FF0000"/>
                          </a:solidFill>
                        </a:rPr>
                        <a:t>Não</a:t>
                      </a:r>
                      <a:endParaRPr b="1"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24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FF0000"/>
                          </a:solidFill>
                        </a:rPr>
                        <a:t>Não</a:t>
                      </a:r>
                      <a:endParaRPr b="1"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24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188038"/>
                          </a:solidFill>
                        </a:rPr>
                        <a:t>Sim</a:t>
                      </a:r>
                      <a:endParaRPr b="1" sz="1400" u="none" cap="none" strike="noStrike">
                        <a:solidFill>
                          <a:srgbClr val="188038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24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188038"/>
                          </a:solidFill>
                        </a:rPr>
                        <a:t>Sim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24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188038"/>
                          </a:solidFill>
                        </a:rPr>
                        <a:t>Sim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24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FF0000"/>
                          </a:solidFill>
                        </a:rPr>
                        <a:t>Não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24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FF0000"/>
                          </a:solidFill>
                        </a:rPr>
                        <a:t>Não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24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FF0000"/>
                          </a:solidFill>
                        </a:rPr>
                        <a:t>Não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24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FF0000"/>
                          </a:solidFill>
                        </a:rPr>
                        <a:t>Não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24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FF0000"/>
                          </a:solidFill>
                        </a:rPr>
                        <a:t>Não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295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chemeClr val="dk1"/>
                          </a:solidFill>
                        </a:rPr>
                        <a:t>Taxa de Acerto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chemeClr val="dk1"/>
                          </a:solidFill>
                        </a:rPr>
                        <a:t>30% (3/10)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Agente de revisão de código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6629"/>
              <a:buNone/>
            </a:pPr>
            <a:r>
              <a:rPr lang="pt-BR" sz="1667"/>
              <a:t>para Migrações Python urllib → requests</a:t>
            </a:r>
            <a:endParaRPr sz="1667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201" cy="245358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3"/>
          <p:cNvSpPr txBox="1"/>
          <p:nvPr>
            <p:ph idx="1" type="body"/>
          </p:nvPr>
        </p:nvSpPr>
        <p:spPr>
          <a:xfrm>
            <a:off x="311700" y="3016500"/>
            <a:ext cx="83571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Formato do erro: [PREFIX][Px] simbolo — problema.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Severidade P0–P3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Veredito: APROVADO / APROVADO_COM_RESSALVAS / REPROVADO / REPROCESSAR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4226" y="0"/>
            <a:ext cx="579554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2975" y="0"/>
            <a:ext cx="6974550" cy="461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5"/>
          <p:cNvSpPr txBox="1"/>
          <p:nvPr>
            <p:ph idx="1" type="body"/>
          </p:nvPr>
        </p:nvSpPr>
        <p:spPr>
          <a:xfrm>
            <a:off x="1067850" y="798175"/>
            <a:ext cx="6807300" cy="41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650">
                <a:solidFill>
                  <a:srgbClr val="82D2CE"/>
                </a:solidFill>
                <a:highlight>
                  <a:srgbClr val="181818"/>
                </a:highlight>
                <a:latin typeface="Courier New"/>
                <a:ea typeface="Courier New"/>
                <a:cs typeface="Courier New"/>
                <a:sym typeface="Courier New"/>
              </a:rPr>
              <a:t>"achados_semantica"</a:t>
            </a:r>
            <a:r>
              <a:rPr lang="pt-BR" sz="1650">
                <a:solidFill>
                  <a:srgbClr val="F0F0F0"/>
                </a:solidFill>
                <a:highlight>
                  <a:srgbClr val="181818"/>
                </a:highlight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endParaRPr sz="1650">
              <a:solidFill>
                <a:srgbClr val="F0F0F0"/>
              </a:solidFill>
              <a:highlight>
                <a:srgbClr val="18181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650">
                <a:solidFill>
                  <a:srgbClr val="F0F0F0"/>
                </a:solidFill>
                <a:highlight>
                  <a:srgbClr val="18181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650">
                <a:solidFill>
                  <a:srgbClr val="E394DC"/>
                </a:solidFill>
                <a:highlight>
                  <a:srgbClr val="181818"/>
                </a:highlight>
                <a:latin typeface="Courier New"/>
                <a:ea typeface="Courier New"/>
                <a:cs typeface="Courier New"/>
                <a:sym typeface="Courier New"/>
              </a:rPr>
              <a:t>"- [COMPAT][P1] `get_vid_list` (linha 281) — urllib.request.urlopen raises HTTPError for 4xx/5xx responses;requests.post/get without raise_for_status() silently ignores HTTP error status Trigger: urlopen replaced by requests without status verification for 4xx/5xx responses"</a:t>
            </a:r>
            <a:endParaRPr sz="1650">
              <a:solidFill>
                <a:srgbClr val="E394DC"/>
              </a:solidFill>
              <a:highlight>
                <a:srgbClr val="18181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650">
                <a:solidFill>
                  <a:srgbClr val="F0F0F0"/>
                </a:solidFill>
                <a:highlight>
                  <a:srgbClr val="181818"/>
                </a:highlight>
                <a:latin typeface="Courier New"/>
                <a:ea typeface="Courier New"/>
                <a:cs typeface="Courier New"/>
                <a:sym typeface="Courier New"/>
              </a:rPr>
              <a:t>  ],</a:t>
            </a:r>
            <a:endParaRPr sz="1650">
              <a:solidFill>
                <a:srgbClr val="F0F0F0"/>
              </a:solidFill>
              <a:highlight>
                <a:srgbClr val="18181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650">
                <a:solidFill>
                  <a:srgbClr val="82D2CE"/>
                </a:solidFill>
                <a:highlight>
                  <a:srgbClr val="181818"/>
                </a:highlight>
                <a:latin typeface="Courier New"/>
                <a:ea typeface="Courier New"/>
                <a:cs typeface="Courier New"/>
                <a:sym typeface="Courier New"/>
              </a:rPr>
              <a:t>"veredito"</a:t>
            </a:r>
            <a:r>
              <a:rPr lang="pt-BR" sz="1650">
                <a:solidFill>
                  <a:srgbClr val="F0F0F0"/>
                </a:solidFill>
                <a:highlight>
                  <a:srgbClr val="181818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pt-BR" sz="1650">
                <a:solidFill>
                  <a:srgbClr val="E394DC"/>
                </a:solidFill>
                <a:highlight>
                  <a:srgbClr val="181818"/>
                </a:highlight>
                <a:latin typeface="Courier New"/>
                <a:ea typeface="Courier New"/>
                <a:cs typeface="Courier New"/>
                <a:sym typeface="Courier New"/>
              </a:rPr>
              <a:t>"APROVADO COM RESSALVAS"</a:t>
            </a:r>
            <a:endParaRPr sz="1650">
              <a:solidFill>
                <a:srgbClr val="E394DC"/>
              </a:solidFill>
              <a:highlight>
                <a:srgbClr val="18181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4688" y="95688"/>
            <a:ext cx="8054624" cy="4952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" name="Google Shape;204;p27"/>
          <p:cNvGraphicFramePr/>
          <p:nvPr/>
        </p:nvGraphicFramePr>
        <p:xfrm>
          <a:off x="691602" y="662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{7229561B-F654-4C84-A280-7759CF8C7EFC}</a:tableStyleId>
              </a:tblPr>
              <a:tblGrid>
                <a:gridCol w="2695200"/>
                <a:gridCol w="5283250"/>
              </a:tblGrid>
              <a:tr h="496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solidFill>
                            <a:schemeClr val="dk1"/>
                          </a:solidFill>
                        </a:rPr>
                        <a:t>Agentes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445D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solidFill>
                            <a:schemeClr val="dk1"/>
                          </a:solidFill>
                        </a:rPr>
                        <a:t>Skills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445D86"/>
                    </a:solidFill>
                  </a:tcPr>
                </a:tc>
              </a:tr>
              <a:tr h="4967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solidFill>
                            <a:schemeClr val="dk1"/>
                          </a:solidFill>
                        </a:rPr>
                        <a:t>Segurança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solidFill>
                            <a:schemeClr val="dk1"/>
                          </a:solidFill>
                        </a:rPr>
                        <a:t>Secure Auth and Logging 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4967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solidFill>
                            <a:schemeClr val="dk1"/>
                          </a:solidFill>
                        </a:rPr>
                        <a:t>Validate Security Inputs 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77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solidFill>
                            <a:schemeClr val="dk1"/>
                          </a:solidFill>
                        </a:rPr>
                        <a:t>Semântico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solidFill>
                            <a:schemeClr val="dk1"/>
                          </a:solidFill>
                        </a:rPr>
                        <a:t>Preserve API Contracts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7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solidFill>
                            <a:schemeClr val="dk1"/>
                          </a:solidFill>
                        </a:rPr>
                        <a:t>Preserve Null Semantics 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7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solidFill>
                            <a:schemeClr val="dk1"/>
                          </a:solidFill>
                        </a:rPr>
                        <a:t>Maintain Backwards Compatibility 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7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solidFill>
                            <a:schemeClr val="dk1"/>
                          </a:solidFill>
                        </a:rPr>
                        <a:t>Estilo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solidFill>
                            <a:schemeClr val="dk1"/>
                          </a:solidFill>
                        </a:rPr>
                        <a:t>Code Style, Typing &amp; DRY 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7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solidFill>
                            <a:schemeClr val="dk1"/>
                          </a:solidFill>
                        </a:rPr>
                        <a:t>Self-Documenting Naming Rules 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8"/>
          <p:cNvSpPr txBox="1"/>
          <p:nvPr>
            <p:ph idx="1" type="body"/>
          </p:nvPr>
        </p:nvSpPr>
        <p:spPr>
          <a:xfrm>
            <a:off x="311700" y="1152475"/>
            <a:ext cx="35181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34 unidades experimentais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5 runs por unidade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modelo: qwen2.5:7b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Local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Temperatura: 0</a:t>
            </a:r>
            <a:endParaRPr/>
          </a:p>
        </p:txBody>
      </p:sp>
      <p:sp>
        <p:nvSpPr>
          <p:cNvPr id="210" name="Google Shape;21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Avaliação</a:t>
            </a:r>
            <a:endParaRPr/>
          </a:p>
        </p:txBody>
      </p:sp>
      <p:graphicFrame>
        <p:nvGraphicFramePr>
          <p:cNvPr id="211" name="Google Shape;211;p28"/>
          <p:cNvGraphicFramePr/>
          <p:nvPr/>
        </p:nvGraphicFramePr>
        <p:xfrm>
          <a:off x="4651025" y="55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{7229561B-F654-4C84-A280-7759CF8C7EFC}</a:tableStyleId>
              </a:tblPr>
              <a:tblGrid>
                <a:gridCol w="2849950"/>
                <a:gridCol w="9080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Veredito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Tasks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APROVADO COM RESSALVAS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21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REPROVADO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APROVADO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6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TOTAL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34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2" name="Google Shape;212;p28"/>
          <p:cNvGraphicFramePr/>
          <p:nvPr/>
        </p:nvGraphicFramePr>
        <p:xfrm>
          <a:off x="589400" y="317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{7229561B-F654-4C84-A280-7759CF8C7EFC}</a:tableStyleId>
              </a:tblPr>
              <a:tblGrid>
                <a:gridCol w="2123025"/>
                <a:gridCol w="2123025"/>
                <a:gridCol w="2123025"/>
              </a:tblGrid>
              <a:tr h="33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1800" u="none" cap="none" strike="noStrike">
                          <a:solidFill>
                            <a:schemeClr val="lt2"/>
                          </a:solidFill>
                        </a:rPr>
                        <a:t>Severidade</a:t>
                      </a:r>
                      <a:endParaRPr b="1"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7625" marB="47625" marR="85725" marL="85725">
                    <a:lnL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1800" u="none" cap="none" strike="noStrike">
                          <a:solidFill>
                            <a:schemeClr val="lt2"/>
                          </a:solidFill>
                        </a:rPr>
                        <a:t>Qtd</a:t>
                      </a:r>
                      <a:endParaRPr b="1"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7625" marB="47625" marR="85725" marL="85725">
                    <a:lnL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1800" u="none" cap="none" strike="noStrike">
                          <a:solidFill>
                            <a:schemeClr val="lt2"/>
                          </a:solidFill>
                        </a:rPr>
                        <a:t>% das regressões</a:t>
                      </a:r>
                      <a:endParaRPr b="1"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7625" marB="47625" marR="85725" marL="85725">
                    <a:lnL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P0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7625" marB="47625" marR="85725" marL="85725">
                    <a:lnL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7625" marB="47625" marR="85725" marL="85725">
                    <a:lnL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7,1%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7625" marB="47625" marR="85725" marL="85725">
                    <a:lnL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P1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7625" marB="47625" marR="85725" marL="85725">
                    <a:lnL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41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7625" marB="47625" marR="85725" marL="85725">
                    <a:lnL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41,8%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7625" marB="47625" marR="85725" marL="85725">
                    <a:lnL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P2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7625" marB="47625" marR="85725" marL="85725">
                    <a:lnL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33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7625" marB="47625" marR="85725" marL="85725">
                    <a:lnL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33,7%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7625" marB="47625" marR="85725" marL="85725">
                    <a:lnL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P3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7625" marB="47625" marR="85725" marL="85725">
                    <a:lnL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17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7625" marB="47625" marR="85725" marL="85725">
                    <a:lnL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17,3%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7625" marB="47625" marR="85725" marL="85725">
                    <a:lnL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7" name="Google Shape;217;p29"/>
          <p:cNvGraphicFramePr/>
          <p:nvPr/>
        </p:nvGraphicFramePr>
        <p:xfrm>
          <a:off x="952500" y="95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{7229561B-F654-4C84-A280-7759CF8C7EFC}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solidFill>
                            <a:schemeClr val="dk1"/>
                          </a:solidFill>
                        </a:rPr>
                        <a:t>Métricas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445D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solidFill>
                            <a:schemeClr val="dk1"/>
                          </a:solidFill>
                        </a:rPr>
                        <a:t>Significado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445D8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solidFill>
                            <a:schemeClr val="dk1"/>
                          </a:solidFill>
                        </a:rPr>
                        <a:t>StrictPass bloqueante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solidFill>
                            <a:schemeClr val="dk1"/>
                          </a:solidFill>
                        </a:rPr>
                        <a:t>se detectou todos os P0 e P1, acertou no veredito e não detectou nenhum P pré-existente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solidFill>
                            <a:schemeClr val="dk1"/>
                          </a:solidFill>
                        </a:rPr>
                        <a:t>StrictPass geral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solidFill>
                            <a:schemeClr val="dk1"/>
                          </a:solidFill>
                        </a:rPr>
                        <a:t>se detectou todos os P0-P3, acertou no veredito e não detectou nenhum P pré-existente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solidFill>
                            <a:schemeClr val="dk1"/>
                          </a:solidFill>
                        </a:rPr>
                        <a:t>Recall bloqueante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solidFill>
                            <a:schemeClr val="dk1"/>
                          </a:solidFill>
                        </a:rPr>
                        <a:t>fração das regressões P0-P1 detectadas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solidFill>
                            <a:schemeClr val="dk1"/>
                          </a:solidFill>
                        </a:rPr>
                        <a:t>Recall geral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solidFill>
                            <a:schemeClr val="dk1"/>
                          </a:solidFill>
                        </a:rPr>
                        <a:t>fração das regressões P0-P3 detectadas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solidFill>
                            <a:schemeClr val="dk1"/>
                          </a:solidFill>
                        </a:rPr>
                        <a:t>Veredito correto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solidFill>
                            <a:schemeClr val="dk1"/>
                          </a:solidFill>
                        </a:rPr>
                        <a:t>se o veredito inferido = ground truth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2" name="Google Shape;222;p30"/>
          <p:cNvGraphicFramePr/>
          <p:nvPr/>
        </p:nvGraphicFramePr>
        <p:xfrm>
          <a:off x="952500" y="157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{7229561B-F654-4C84-A280-7759CF8C7EFC}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chemeClr val="dk1"/>
                          </a:solidFill>
                        </a:rPr>
                        <a:t>Métricas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chemeClr val="dk1"/>
                          </a:solidFill>
                        </a:rPr>
                        <a:t>Significado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chemeClr val="dk1"/>
                          </a:solidFill>
                        </a:rPr>
                        <a:t>Valor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chemeClr val="dk1"/>
                          </a:solidFill>
                        </a:rPr>
                        <a:t>StrictPass bloqueante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chemeClr val="dk1"/>
                          </a:solidFill>
                        </a:rPr>
                        <a:t>se detectou todos os P0 e P1, acertou no veredito e não detectou nenhum P pré-existente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chemeClr val="dk1"/>
                          </a:solidFill>
                        </a:rPr>
                        <a:t>14.7%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chemeClr val="dk1"/>
                          </a:solidFill>
                        </a:rPr>
                        <a:t>StrictPass geral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chemeClr val="dk1"/>
                          </a:solidFill>
                        </a:rPr>
                        <a:t>se detectou todos os P0-P3, acertou no veredito e não detectou nenhum P pré-existente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chemeClr val="dk1"/>
                          </a:solidFill>
                        </a:rPr>
                        <a:t>6%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chemeClr val="dk1"/>
                          </a:solidFill>
                        </a:rPr>
                        <a:t>Recall bloqueante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chemeClr val="dk1"/>
                          </a:solidFill>
                        </a:rPr>
                        <a:t>fração das regressões P0/P1 detectadas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chemeClr val="dk1"/>
                          </a:solidFill>
                        </a:rPr>
                        <a:t>31.7%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chemeClr val="dk1"/>
                          </a:solidFill>
                        </a:rPr>
                        <a:t>Recall geral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chemeClr val="dk1"/>
                          </a:solidFill>
                        </a:rPr>
                        <a:t>fração das regressões P0-P3 detectadas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chemeClr val="dk1"/>
                          </a:solidFill>
                        </a:rPr>
                        <a:t>16.1%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chemeClr val="dk1"/>
                          </a:solidFill>
                        </a:rPr>
                        <a:t>Veredito correto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chemeClr val="dk1"/>
                          </a:solidFill>
                        </a:rPr>
                        <a:t>se o veredito inferido = ground truth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chemeClr val="dk1"/>
                          </a:solidFill>
                        </a:rPr>
                        <a:t>16.7%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idx="1" type="body"/>
          </p:nvPr>
        </p:nvSpPr>
        <p:spPr>
          <a:xfrm>
            <a:off x="311700" y="1152475"/>
            <a:ext cx="35181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34 unidades experimentais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5 runs por unidade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modelo: llama3.2:3b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Local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Temperatura: 0</a:t>
            </a:r>
            <a:endParaRPr/>
          </a:p>
        </p:txBody>
      </p:sp>
      <p:sp>
        <p:nvSpPr>
          <p:cNvPr id="228" name="Google Shape;22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Avaliação</a:t>
            </a:r>
            <a:endParaRPr/>
          </a:p>
        </p:txBody>
      </p:sp>
      <p:graphicFrame>
        <p:nvGraphicFramePr>
          <p:cNvPr id="229" name="Google Shape;229;p31"/>
          <p:cNvGraphicFramePr/>
          <p:nvPr/>
        </p:nvGraphicFramePr>
        <p:xfrm>
          <a:off x="4651025" y="55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{7229561B-F654-4C84-A280-7759CF8C7EFC}</a:tableStyleId>
              </a:tblPr>
              <a:tblGrid>
                <a:gridCol w="2849950"/>
                <a:gridCol w="9080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Veredito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Tasks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APROVADO COM RESSALVAS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21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REPROVADO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APROVADO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6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TOTAL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34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0" name="Google Shape;230;p31"/>
          <p:cNvGraphicFramePr/>
          <p:nvPr/>
        </p:nvGraphicFramePr>
        <p:xfrm>
          <a:off x="589400" y="317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{7229561B-F654-4C84-A280-7759CF8C7EFC}</a:tableStyleId>
              </a:tblPr>
              <a:tblGrid>
                <a:gridCol w="2123025"/>
                <a:gridCol w="2123025"/>
                <a:gridCol w="2123025"/>
              </a:tblGrid>
              <a:tr h="33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1800" u="none" cap="none" strike="noStrike">
                          <a:solidFill>
                            <a:schemeClr val="lt2"/>
                          </a:solidFill>
                        </a:rPr>
                        <a:t>Severidade</a:t>
                      </a:r>
                      <a:endParaRPr b="1"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7625" marB="47625" marR="85725" marL="85725">
                    <a:lnL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1800" u="none" cap="none" strike="noStrike">
                          <a:solidFill>
                            <a:schemeClr val="lt2"/>
                          </a:solidFill>
                        </a:rPr>
                        <a:t>Qtd</a:t>
                      </a:r>
                      <a:endParaRPr b="1"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7625" marB="47625" marR="85725" marL="85725">
                    <a:lnL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1800" u="none" cap="none" strike="noStrike">
                          <a:solidFill>
                            <a:schemeClr val="lt2"/>
                          </a:solidFill>
                        </a:rPr>
                        <a:t>% das regressões</a:t>
                      </a:r>
                      <a:endParaRPr b="1"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7625" marB="47625" marR="85725" marL="85725">
                    <a:lnL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P0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7625" marB="47625" marR="85725" marL="85725">
                    <a:lnL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7625" marB="47625" marR="85725" marL="85725">
                    <a:lnL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7,1%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7625" marB="47625" marR="85725" marL="85725">
                    <a:lnL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P1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7625" marB="47625" marR="85725" marL="85725">
                    <a:lnL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41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7625" marB="47625" marR="85725" marL="85725">
                    <a:lnL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41,8%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7625" marB="47625" marR="85725" marL="85725">
                    <a:lnL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P2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7625" marB="47625" marR="85725" marL="85725">
                    <a:lnL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33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7625" marB="47625" marR="85725" marL="85725">
                    <a:lnL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33,7%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7625" marB="47625" marR="85725" marL="85725">
                    <a:lnL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P3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7625" marB="47625" marR="85725" marL="85725">
                    <a:lnL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17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7625" marB="47625" marR="85725" marL="85725">
                    <a:lnL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chemeClr val="lt2"/>
                          </a:solidFill>
                        </a:rPr>
                        <a:t>17,3%</a:t>
                      </a:r>
                      <a:endParaRPr sz="18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7625" marB="47625" marR="85725" marL="85725">
                    <a:lnL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" name="Google Shape;235;p32"/>
          <p:cNvGraphicFramePr/>
          <p:nvPr/>
        </p:nvGraphicFramePr>
        <p:xfrm>
          <a:off x="952500" y="157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{7229561B-F654-4C84-A280-7759CF8C7EFC}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chemeClr val="dk1"/>
                          </a:solidFill>
                        </a:rPr>
                        <a:t>Métricas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chemeClr val="dk1"/>
                          </a:solidFill>
                        </a:rPr>
                        <a:t>Significado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chemeClr val="dk1"/>
                          </a:solidFill>
                        </a:rPr>
                        <a:t>Valor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chemeClr val="dk1"/>
                          </a:solidFill>
                        </a:rPr>
                        <a:t>StrictPass bloqueante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chemeClr val="dk1"/>
                          </a:solidFill>
                        </a:rPr>
                        <a:t>se detectou todos os P0 e P1, acertou no veredito e não detectou nenhum P pré-existente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chemeClr val="dk1"/>
                          </a:solidFill>
                        </a:rPr>
                        <a:t>0,1588 (15,88%) — 27/170 runs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chemeClr val="dk1"/>
                          </a:solidFill>
                        </a:rPr>
                        <a:t>StrictPass geral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chemeClr val="dk1"/>
                          </a:solidFill>
                        </a:rPr>
                        <a:t>se detectou todos os P0-P3, acertou no veredito e não detectou nenhum P pré-existente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chemeClr val="dk1"/>
                          </a:solidFill>
                        </a:rPr>
                        <a:t>0,0588 (5,88%) — 10/170 runs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chemeClr val="dk1"/>
                          </a:solidFill>
                        </a:rPr>
                        <a:t>Recall bloqueante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chemeClr val="dk1"/>
                          </a:solidFill>
                        </a:rPr>
                        <a:t>fração das regressões P0/P1 detectadas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chemeClr val="dk1"/>
                          </a:solidFill>
                        </a:rPr>
                        <a:t>0,3284 (32,84%)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chemeClr val="dk1"/>
                          </a:solidFill>
                        </a:rPr>
                        <a:t>Recall geral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chemeClr val="dk1"/>
                          </a:solidFill>
                        </a:rPr>
                        <a:t>fração das regressões P0-P3 detectadas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chemeClr val="dk1"/>
                          </a:solidFill>
                        </a:rPr>
                        <a:t>0,2627 (26,27%)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chemeClr val="dk1"/>
                          </a:solidFill>
                        </a:rPr>
                        <a:t>Veredito correto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chemeClr val="dk1"/>
                          </a:solidFill>
                        </a:rPr>
                        <a:t>se o veredito inferido = ground truth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chemeClr val="dk1"/>
                          </a:solidFill>
                        </a:rPr>
                        <a:t>0,2588 (25,88%) — 44/170 runs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Avaliação - Workflow</a:t>
            </a:r>
            <a:endParaRPr/>
          </a:p>
        </p:txBody>
      </p:sp>
      <p:sp>
        <p:nvSpPr>
          <p:cNvPr id="241" name="Google Shape;241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Modelos foram os mesmos dos agentes</a:t>
            </a:r>
            <a:endParaRPr/>
          </a:p>
        </p:txBody>
      </p:sp>
      <p:pic>
        <p:nvPicPr>
          <p:cNvPr id="242" name="Google Shape;242;p35" title="Captura de Tela 2026-06-28 às 21.47.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4225" y="1556025"/>
            <a:ext cx="5495550" cy="301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6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4000"/>
              <a:t>Obrigado</a:t>
            </a:r>
            <a:endParaRPr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000000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